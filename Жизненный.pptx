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0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44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91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343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126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3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88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33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14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6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34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E61FDA-2067-495C-9275-88CBF639CEF9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747A71D-55D4-4A3B-88E7-51FB5CB450F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2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12943" y="1152394"/>
            <a:ext cx="11749413" cy="3219189"/>
          </a:xfrm>
        </p:spPr>
        <p:txBody>
          <a:bodyPr>
            <a:normAutofit/>
          </a:bodyPr>
          <a:lstStyle/>
          <a:p>
            <a:r>
              <a:rPr lang="ru-RU" sz="4000" dirty="0"/>
              <a:t>Жизненный цикл разработки программного обеспечения (SDLC</a:t>
            </a:r>
            <a:r>
              <a:rPr lang="ru-RU" sz="4000" dirty="0" smtClean="0"/>
              <a:t>) Этапы и методологии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2968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Что такое </a:t>
            </a:r>
            <a:r>
              <a:rPr lang="en-US" b="1" dirty="0"/>
              <a:t>SDLC?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SDLC (</a:t>
            </a:r>
            <a:r>
              <a:rPr lang="ru-RU" dirty="0" err="1"/>
              <a:t>Software</a:t>
            </a:r>
            <a:r>
              <a:rPr lang="ru-RU" dirty="0"/>
              <a:t> </a:t>
            </a:r>
            <a:r>
              <a:rPr lang="ru-RU" dirty="0" err="1"/>
              <a:t>Development</a:t>
            </a:r>
            <a:r>
              <a:rPr lang="ru-RU" dirty="0"/>
              <a:t> </a:t>
            </a:r>
            <a:r>
              <a:rPr lang="ru-RU" dirty="0" err="1"/>
              <a:t>Life</a:t>
            </a:r>
            <a:r>
              <a:rPr lang="ru-RU" dirty="0"/>
              <a:t> </a:t>
            </a:r>
            <a:r>
              <a:rPr lang="ru-RU" dirty="0" err="1"/>
              <a:t>Cycle</a:t>
            </a:r>
            <a:r>
              <a:rPr lang="ru-RU" dirty="0"/>
              <a:t>) — это структурированный процесс создания программного обеспечения от идеи до вывода продукта из эксплуатации.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125" y="2625661"/>
            <a:ext cx="6495875" cy="365287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33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Зачем нужен </a:t>
            </a:r>
            <a:r>
              <a:rPr lang="en-US" b="1" dirty="0"/>
              <a:t>SDLC: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Чёткое планирование ресурсов и сроков.</a:t>
            </a:r>
          </a:p>
          <a:p>
            <a:r>
              <a:rPr lang="ru-RU" dirty="0"/>
              <a:t>Контроль качества на каждом этапе.</a:t>
            </a:r>
          </a:p>
          <a:p>
            <a:r>
              <a:rPr lang="ru-RU" dirty="0"/>
              <a:t>Снижение рисков и затрат.</a:t>
            </a:r>
          </a:p>
          <a:p>
            <a:r>
              <a:rPr lang="ru-RU" dirty="0"/>
              <a:t>Прозрачность для всех участников проекта.</a:t>
            </a:r>
          </a:p>
          <a:p>
            <a:endParaRPr lang="ru-RU" dirty="0"/>
          </a:p>
        </p:txBody>
      </p:sp>
      <p:pic>
        <p:nvPicPr>
          <p:cNvPr id="3074" name="Picture 2" descr="https://avatars.mds.yandex.net/i?id=07e0da9e1840ff08fc90e5f9a24d508b59e34b95-4012375-images-thumbs&amp;n=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4573" y="2628952"/>
            <a:ext cx="6227428" cy="3708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37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Основные этапы </a:t>
            </a:r>
            <a:r>
              <a:rPr lang="en-US" b="1" dirty="0"/>
              <a:t>SDLC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Планирование и анализ требований.</a:t>
            </a:r>
          </a:p>
          <a:p>
            <a:r>
              <a:rPr lang="ru-RU" dirty="0"/>
              <a:t>Проектирование системы.</a:t>
            </a:r>
          </a:p>
          <a:p>
            <a:r>
              <a:rPr lang="ru-RU" dirty="0"/>
              <a:t>Разработка.</a:t>
            </a:r>
          </a:p>
          <a:p>
            <a:r>
              <a:rPr lang="ru-RU" dirty="0"/>
              <a:t>Тестирование и отладка.</a:t>
            </a:r>
          </a:p>
          <a:p>
            <a:r>
              <a:rPr lang="ru-RU" dirty="0"/>
              <a:t>Внедрение и развёртывание.</a:t>
            </a:r>
          </a:p>
          <a:p>
            <a:r>
              <a:rPr lang="ru-RU" dirty="0"/>
              <a:t>Сопровождение и развитие.</a:t>
            </a:r>
          </a:p>
          <a:p>
            <a:r>
              <a:rPr lang="ru-RU" dirty="0"/>
              <a:t>Вывод из эксплуатации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227" y="2483141"/>
            <a:ext cx="5742773" cy="3733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67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 Планирование и анализ требований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Определение целей проекта.</a:t>
            </a:r>
          </a:p>
          <a:p>
            <a:r>
              <a:rPr lang="ru-RU" dirty="0"/>
              <a:t>Сбор и анализ бизнес‑требований.</a:t>
            </a:r>
          </a:p>
          <a:p>
            <a:r>
              <a:rPr lang="ru-RU" dirty="0"/>
              <a:t>Оценка ресурсов (бюджет, сроки, команда).</a:t>
            </a:r>
          </a:p>
          <a:p>
            <a:r>
              <a:rPr lang="ru-RU" dirty="0"/>
              <a:t>Формирование документа SRS (</a:t>
            </a:r>
            <a:r>
              <a:rPr lang="ru-RU" dirty="0" err="1"/>
              <a:t>Software</a:t>
            </a:r>
            <a:r>
              <a:rPr lang="ru-RU" dirty="0"/>
              <a:t> </a:t>
            </a:r>
            <a:r>
              <a:rPr lang="ru-RU" dirty="0" err="1"/>
              <a:t>Requirements</a:t>
            </a:r>
            <a:r>
              <a:rPr lang="ru-RU" dirty="0"/>
              <a:t> </a:t>
            </a:r>
            <a:r>
              <a:rPr lang="ru-RU" dirty="0" err="1"/>
              <a:t>Specification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pic>
        <p:nvPicPr>
          <p:cNvPr id="1026" name="Picture 2" descr="Этап 1 - Планирование и анализ требований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654795"/>
            <a:ext cx="6393664" cy="239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4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Проектирование 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7771" y="1912846"/>
            <a:ext cx="10058400" cy="4023360"/>
          </a:xfrm>
        </p:spPr>
        <p:txBody>
          <a:bodyPr/>
          <a:lstStyle/>
          <a:p>
            <a:r>
              <a:rPr lang="ru-RU" dirty="0"/>
              <a:t>Разработка архитектуры ПО.</a:t>
            </a:r>
          </a:p>
          <a:p>
            <a:r>
              <a:rPr lang="ru-RU" dirty="0"/>
              <a:t>Проектирование модулей и интерфейсов.</a:t>
            </a:r>
          </a:p>
          <a:p>
            <a:r>
              <a:rPr lang="ru-RU" dirty="0"/>
              <a:t>Выбор технологий (языки программирования, </a:t>
            </a:r>
            <a:r>
              <a:rPr lang="ru-RU" dirty="0" err="1"/>
              <a:t>фреймворки</a:t>
            </a:r>
            <a:r>
              <a:rPr lang="ru-RU" dirty="0"/>
              <a:t>).</a:t>
            </a:r>
          </a:p>
          <a:p>
            <a:r>
              <a:rPr lang="ru-RU" dirty="0"/>
              <a:t>Создание прототипов и </a:t>
            </a:r>
            <a:r>
              <a:rPr lang="ru-RU" dirty="0" smtClean="0"/>
              <a:t>схем.</a:t>
            </a:r>
          </a:p>
          <a:p>
            <a:pPr marL="0" indent="0">
              <a:buNone/>
            </a:pPr>
            <a:r>
              <a:rPr lang="ru-RU" b="1" dirty="0" smtClean="0"/>
              <a:t>Участники:</a:t>
            </a:r>
            <a:r>
              <a:rPr lang="ru-RU" dirty="0" smtClean="0"/>
              <a:t> Архитектор ПО, UX/UI‑дизайнер.</a:t>
            </a:r>
          </a:p>
          <a:p>
            <a:pPr marL="0" indent="0">
              <a:buNone/>
            </a:pPr>
            <a:r>
              <a:rPr lang="ru-RU" b="1" dirty="0" smtClean="0"/>
              <a:t>Инструменты</a:t>
            </a:r>
            <a:r>
              <a:rPr lang="ru-RU" b="1" dirty="0"/>
              <a:t>:</a:t>
            </a:r>
            <a:r>
              <a:rPr lang="ru-RU" dirty="0"/>
              <a:t> Draw.io, </a:t>
            </a:r>
            <a:r>
              <a:rPr lang="ru-RU" dirty="0" err="1"/>
              <a:t>Figma</a:t>
            </a:r>
            <a:r>
              <a:rPr lang="ru-RU" dirty="0"/>
              <a:t>, </a:t>
            </a:r>
            <a:r>
              <a:rPr lang="ru-RU" dirty="0" err="1"/>
              <a:t>Lucidchart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3074" name="Picture 2" descr="Этап 3 - Проектирование архитектур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603" y="1845734"/>
            <a:ext cx="4823670" cy="189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77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 3: Разработка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Написание кода.</a:t>
            </a:r>
          </a:p>
          <a:p>
            <a:r>
              <a:rPr lang="ru-RU" dirty="0"/>
              <a:t>Интеграция компонентов.</a:t>
            </a:r>
          </a:p>
          <a:p>
            <a:r>
              <a:rPr lang="ru-RU" dirty="0"/>
              <a:t>Модульное тестирование.</a:t>
            </a:r>
          </a:p>
          <a:p>
            <a:r>
              <a:rPr lang="ru-RU" dirty="0"/>
              <a:t>Использование систем контроля версий.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973" y="1845734"/>
            <a:ext cx="4537423" cy="438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27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Этап 4: Тестирование и отладка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Модульное (проверка отдельных блоков кода).</a:t>
            </a:r>
          </a:p>
          <a:p>
            <a:r>
              <a:rPr lang="ru-RU" dirty="0"/>
              <a:t>Интеграционное (взаимодействие компонентов).</a:t>
            </a:r>
          </a:p>
          <a:p>
            <a:r>
              <a:rPr lang="ru-RU" dirty="0"/>
              <a:t>Системное (соответствие требованиям).</a:t>
            </a:r>
          </a:p>
          <a:p>
            <a:r>
              <a:rPr lang="ru-RU" dirty="0"/>
              <a:t>Приёмочное (UAT, тестирование пользователями).</a:t>
            </a:r>
          </a:p>
          <a:p>
            <a:pPr marL="0" indent="0">
              <a:buNone/>
            </a:pPr>
            <a:r>
              <a:rPr lang="ru-RU" b="1" dirty="0"/>
              <a:t>Участники:</a:t>
            </a:r>
            <a:r>
              <a:rPr lang="ru-RU" dirty="0"/>
              <a:t> QA‑инженеры, </a:t>
            </a:r>
            <a:r>
              <a:rPr lang="ru-RU" dirty="0" err="1"/>
              <a:t>автоматизаторы</a:t>
            </a:r>
            <a:r>
              <a:rPr lang="ru-RU" dirty="0"/>
              <a:t> тестирования.</a:t>
            </a:r>
          </a:p>
          <a:p>
            <a:pPr marL="0" indent="0">
              <a:buNone/>
            </a:pPr>
            <a:r>
              <a:rPr lang="ru-RU" b="1" dirty="0"/>
              <a:t>Инструменты:</a:t>
            </a:r>
            <a:r>
              <a:rPr lang="ru-RU" dirty="0"/>
              <a:t> </a:t>
            </a:r>
            <a:r>
              <a:rPr lang="ru-RU" dirty="0" err="1"/>
              <a:t>Selenium</a:t>
            </a:r>
            <a:r>
              <a:rPr lang="ru-RU" dirty="0"/>
              <a:t>, </a:t>
            </a:r>
            <a:r>
              <a:rPr lang="ru-RU" dirty="0" err="1"/>
              <a:t>JUnit</a:t>
            </a:r>
            <a:r>
              <a:rPr lang="ru-RU" dirty="0"/>
              <a:t>, </a:t>
            </a:r>
            <a:r>
              <a:rPr lang="ru-RU" dirty="0" err="1"/>
              <a:t>Postman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2050" name="Picture 2" descr="Этап 5 - Тестирование продукт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307" y="1845734"/>
            <a:ext cx="4741294" cy="236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67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Этап 5: Внедрение и развёртывание</a:t>
            </a:r>
            <a:br>
              <a:rPr lang="ru-RU" b="1" dirty="0"/>
            </a:br>
            <a:r>
              <a:rPr lang="ru-RU" b="1" dirty="0"/>
              <a:t>Задачи: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Развёртывание ПО на серверах.</a:t>
            </a:r>
          </a:p>
          <a:p>
            <a:r>
              <a:rPr lang="ru-RU" dirty="0"/>
              <a:t>Миграция данных (если требуется).</a:t>
            </a:r>
          </a:p>
          <a:p>
            <a:r>
              <a:rPr lang="ru-RU" dirty="0"/>
              <a:t>Настройка инфраструктуры.</a:t>
            </a:r>
          </a:p>
          <a:p>
            <a:r>
              <a:rPr lang="ru-RU" dirty="0"/>
              <a:t>Обучение пользователей.</a:t>
            </a:r>
          </a:p>
          <a:p>
            <a:pPr marL="0" indent="0">
              <a:buNone/>
            </a:pPr>
            <a:r>
              <a:rPr lang="ru-RU" b="1" dirty="0"/>
              <a:t>Стратегии развёртывания:</a:t>
            </a:r>
            <a:endParaRPr lang="ru-RU" dirty="0"/>
          </a:p>
          <a:p>
            <a:r>
              <a:rPr lang="ru-RU" dirty="0"/>
              <a:t>Канареечное.</a:t>
            </a:r>
          </a:p>
          <a:p>
            <a:r>
              <a:rPr lang="ru-RU" dirty="0"/>
              <a:t>Сине‑зелёное.</a:t>
            </a:r>
          </a:p>
          <a:p>
            <a:r>
              <a:rPr lang="ru-RU" dirty="0"/>
              <a:t>Скользящее.</a:t>
            </a:r>
          </a:p>
          <a:p>
            <a:pPr marL="0" indent="0">
              <a:buNone/>
            </a:pPr>
            <a:r>
              <a:rPr lang="ru-RU" b="1" dirty="0"/>
              <a:t>Инструменты:</a:t>
            </a:r>
            <a:r>
              <a:rPr lang="ru-RU" dirty="0"/>
              <a:t> </a:t>
            </a:r>
            <a:r>
              <a:rPr lang="ru-RU" dirty="0" err="1"/>
              <a:t>Docker</a:t>
            </a:r>
            <a:r>
              <a:rPr lang="ru-RU" dirty="0"/>
              <a:t>, </a:t>
            </a:r>
            <a:r>
              <a:rPr lang="ru-RU" dirty="0" err="1"/>
              <a:t>Kubernetes</a:t>
            </a:r>
            <a:r>
              <a:rPr lang="ru-RU" dirty="0"/>
              <a:t>, </a:t>
            </a:r>
            <a:r>
              <a:rPr lang="ru-RU" dirty="0" err="1"/>
              <a:t>Jenkins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521" y="2625754"/>
            <a:ext cx="5942202" cy="312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07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Сопровождение и развитие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Мониторинг работы ПО.</a:t>
            </a:r>
          </a:p>
          <a:p>
            <a:r>
              <a:rPr lang="ru-RU" dirty="0"/>
              <a:t>Устранение ошибок.</a:t>
            </a:r>
          </a:p>
          <a:p>
            <a:r>
              <a:rPr lang="ru-RU" dirty="0"/>
              <a:t>Выпуск обновлений.</a:t>
            </a:r>
          </a:p>
          <a:p>
            <a:r>
              <a:rPr lang="ru-RU" dirty="0"/>
              <a:t>Сбор обратной связи от пользователей.</a:t>
            </a:r>
          </a:p>
          <a:p>
            <a:pPr marL="0" indent="0">
              <a:buNone/>
            </a:pPr>
            <a:r>
              <a:rPr lang="ru-RU" b="1" dirty="0"/>
              <a:t>Участники:</a:t>
            </a:r>
            <a:r>
              <a:rPr lang="ru-RU" dirty="0"/>
              <a:t> Техническая поддержка, разработчики.</a:t>
            </a:r>
          </a:p>
          <a:p>
            <a:pPr marL="0" indent="0">
              <a:buNone/>
            </a:pPr>
            <a:r>
              <a:rPr lang="ru-RU" b="1" dirty="0"/>
              <a:t>Инструменты:</a:t>
            </a:r>
            <a:r>
              <a:rPr lang="ru-RU" dirty="0"/>
              <a:t> </a:t>
            </a:r>
            <a:r>
              <a:rPr lang="ru-RU" dirty="0" err="1"/>
              <a:t>Jira</a:t>
            </a:r>
            <a:r>
              <a:rPr lang="ru-RU" dirty="0"/>
              <a:t>, </a:t>
            </a:r>
            <a:r>
              <a:rPr lang="ru-RU" dirty="0" err="1"/>
              <a:t>Zend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599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. Этап 7: Вывод из эксплуатации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Продукт устарел.</a:t>
            </a:r>
          </a:p>
          <a:p>
            <a:r>
              <a:rPr lang="ru-RU" dirty="0"/>
              <a:t>Заменён новой версией.</a:t>
            </a:r>
          </a:p>
          <a:p>
            <a:r>
              <a:rPr lang="ru-RU" dirty="0"/>
              <a:t>Прекращена поддержка со стороны заказчика.</a:t>
            </a:r>
          </a:p>
          <a:p>
            <a:pPr marL="0" indent="0">
              <a:buNone/>
            </a:pPr>
            <a:r>
              <a:rPr lang="ru-RU" b="1" dirty="0"/>
              <a:t>Действия:</a:t>
            </a:r>
            <a:endParaRPr lang="ru-RU" dirty="0"/>
          </a:p>
          <a:p>
            <a:r>
              <a:rPr lang="ru-RU" dirty="0"/>
              <a:t>Архивирование данных.</a:t>
            </a:r>
          </a:p>
          <a:p>
            <a:r>
              <a:rPr lang="ru-RU" dirty="0"/>
              <a:t>Уведомление пользователей.</a:t>
            </a:r>
          </a:p>
          <a:p>
            <a:r>
              <a:rPr lang="ru-RU" dirty="0"/>
              <a:t>Закрытие документации.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857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Модели </a:t>
            </a:r>
            <a:r>
              <a:rPr lang="en-US" b="1" dirty="0"/>
              <a:t>SDLC: </a:t>
            </a:r>
            <a:r>
              <a:rPr lang="ru-RU" b="1" dirty="0"/>
              <a:t>обзор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Каскадная (</a:t>
            </a:r>
            <a:r>
              <a:rPr lang="ru-RU" dirty="0" err="1"/>
              <a:t>Waterfall</a:t>
            </a:r>
            <a:r>
              <a:rPr lang="ru-RU" dirty="0"/>
              <a:t>).</a:t>
            </a:r>
          </a:p>
          <a:p>
            <a:r>
              <a:rPr lang="ru-RU" dirty="0"/>
              <a:t>V‑образная.</a:t>
            </a:r>
          </a:p>
          <a:p>
            <a:r>
              <a:rPr lang="ru-RU" dirty="0"/>
              <a:t>Итеративная.</a:t>
            </a:r>
          </a:p>
          <a:p>
            <a:r>
              <a:rPr lang="ru-RU" dirty="0"/>
              <a:t>Спиральная.</a:t>
            </a:r>
          </a:p>
          <a:p>
            <a:r>
              <a:rPr lang="ru-RU" dirty="0" err="1"/>
              <a:t>Agile</a:t>
            </a:r>
            <a:r>
              <a:rPr lang="ru-RU" dirty="0"/>
              <a:t>.</a:t>
            </a:r>
          </a:p>
          <a:p>
            <a:r>
              <a:rPr lang="ru-RU" dirty="0" err="1"/>
              <a:t>DevOps</a:t>
            </a:r>
            <a:r>
              <a:rPr lang="ru-RU" dirty="0"/>
              <a:t>.</a:t>
            </a:r>
          </a:p>
          <a:p>
            <a:r>
              <a:rPr lang="ru-RU" b="1" dirty="0"/>
              <a:t>Визуализация:</a:t>
            </a:r>
            <a:r>
              <a:rPr lang="ru-RU" dirty="0"/>
              <a:t> Таблица сравнения моделей по критериям: гибкость, сроки, стоимость, риски.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373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Каскадная модель (</a:t>
            </a:r>
            <a:r>
              <a:rPr lang="en-US" b="1" dirty="0"/>
              <a:t>Waterfall)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/>
              <a:t>Строгая последовательность этапов.</a:t>
            </a:r>
          </a:p>
          <a:p>
            <a:r>
              <a:rPr lang="ru-RU" dirty="0"/>
              <a:t>Каждый этап завершается до начала следующего.</a:t>
            </a:r>
          </a:p>
          <a:p>
            <a:r>
              <a:rPr lang="ru-RU" dirty="0"/>
              <a:t>Подходит для проектов с чёткими требованиями.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r>
              <a:rPr lang="ru-RU" dirty="0"/>
              <a:t> Простота, чёткая документация.</a:t>
            </a:r>
            <a:br>
              <a:rPr lang="ru-RU" dirty="0"/>
            </a:br>
            <a:r>
              <a:rPr lang="ru-RU" b="1" dirty="0"/>
              <a:t>Минусы:</a:t>
            </a:r>
            <a:r>
              <a:rPr lang="ru-RU" dirty="0"/>
              <a:t> Низкая гибкость, дороговизна изменений.</a:t>
            </a:r>
          </a:p>
          <a:p>
            <a:pPr marL="0" indent="0">
              <a:buNone/>
            </a:pPr>
            <a:r>
              <a:rPr lang="ru-RU" b="1" dirty="0"/>
              <a:t>Пример:</a:t>
            </a:r>
            <a:r>
              <a:rPr lang="ru-RU" dirty="0"/>
              <a:t> Разработка ПО для госорганов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r>
              <a:rPr lang="ru-RU" dirty="0"/>
              <a:t> Простота, чёткая документация.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b="1" dirty="0"/>
              <a:t>Минусы:</a:t>
            </a:r>
            <a:r>
              <a:rPr lang="ru-RU" dirty="0"/>
              <a:t> Низкая гибкость, дороговизна 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426250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V‑</a:t>
            </a:r>
            <a:r>
              <a:rPr lang="ru-RU" b="1" dirty="0"/>
              <a:t>образная модель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/>
              <a:t>Расширенная версия каскадной модели.</a:t>
            </a:r>
          </a:p>
          <a:p>
            <a:r>
              <a:rPr lang="ru-RU" dirty="0"/>
              <a:t>Тестирование планируется на этапе проектирования.</a:t>
            </a:r>
          </a:p>
          <a:p>
            <a:r>
              <a:rPr lang="ru-RU" dirty="0"/>
              <a:t>Верификация (до разработки) и </a:t>
            </a:r>
            <a:r>
              <a:rPr lang="ru-RU" dirty="0" err="1"/>
              <a:t>валидация</a:t>
            </a:r>
            <a:r>
              <a:rPr lang="ru-RU" dirty="0"/>
              <a:t> (после разработки).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r>
              <a:rPr lang="ru-RU" dirty="0"/>
              <a:t> Надёжность, раннее выявление ошибок.</a:t>
            </a:r>
            <a:br>
              <a:rPr lang="ru-RU" dirty="0"/>
            </a:br>
            <a:r>
              <a:rPr lang="ru-RU" b="1" dirty="0"/>
              <a:t>Минусы:</a:t>
            </a:r>
            <a:r>
              <a:rPr lang="ru-RU" dirty="0"/>
              <a:t> Жёсткость, высокая стоимость.</a:t>
            </a:r>
          </a:p>
          <a:p>
            <a:pPr marL="0" indent="0">
              <a:buNone/>
            </a:pPr>
            <a:r>
              <a:rPr lang="ru-RU" b="1" dirty="0"/>
              <a:t>Пример:</a:t>
            </a:r>
            <a:r>
              <a:rPr lang="ru-RU" dirty="0"/>
              <a:t> ПО для авиации или медицины.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593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Итеративная и спиральная модели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Итеративная:</a:t>
            </a:r>
            <a:endParaRPr lang="ru-RU" dirty="0"/>
          </a:p>
          <a:p>
            <a:r>
              <a:rPr lang="ru-RU" dirty="0"/>
              <a:t>Разработка по циклам (итерациям).</a:t>
            </a:r>
          </a:p>
          <a:p>
            <a:r>
              <a:rPr lang="ru-RU" dirty="0"/>
              <a:t>Постепенное улучшение продукта.</a:t>
            </a:r>
          </a:p>
          <a:p>
            <a:pPr marL="0" indent="0">
              <a:buNone/>
            </a:pPr>
            <a:r>
              <a:rPr lang="ru-RU" b="1" dirty="0"/>
              <a:t>Спиральная:</a:t>
            </a:r>
            <a:endParaRPr lang="ru-RU" dirty="0"/>
          </a:p>
          <a:p>
            <a:r>
              <a:rPr lang="ru-RU" dirty="0"/>
              <a:t>Итерации с акцентом на анализ рисков.</a:t>
            </a:r>
          </a:p>
          <a:p>
            <a:r>
              <a:rPr lang="ru-RU" dirty="0"/>
              <a:t>Каждая итерация — новый прототип.</a:t>
            </a:r>
          </a:p>
          <a:p>
            <a:pPr marL="0" indent="0">
              <a:buNone/>
            </a:pPr>
            <a:r>
              <a:rPr lang="ru-RU" b="1" dirty="0"/>
              <a:t>Плюсы:</a:t>
            </a:r>
            <a:r>
              <a:rPr lang="ru-RU" dirty="0"/>
              <a:t> Гибкость, адаптация к изменениям.</a:t>
            </a:r>
            <a:br>
              <a:rPr lang="ru-RU" dirty="0"/>
            </a:br>
            <a:r>
              <a:rPr lang="ru-RU" b="1" dirty="0"/>
              <a:t>Минусы:</a:t>
            </a:r>
            <a:r>
              <a:rPr lang="ru-RU" dirty="0"/>
              <a:t> Сложность управления, высокие затраты.</a:t>
            </a:r>
          </a:p>
          <a:p>
            <a:pPr marL="0" indent="0">
              <a:buNone/>
            </a:pPr>
            <a:r>
              <a:rPr lang="ru-RU" b="1" dirty="0"/>
              <a:t>Пример:</a:t>
            </a:r>
            <a:r>
              <a:rPr lang="ru-RU" dirty="0"/>
              <a:t> Инновационные проекты с неопределёнными требованиями.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742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. Как выбрать модель </a:t>
            </a:r>
            <a:r>
              <a:rPr lang="en-US" b="1" dirty="0"/>
              <a:t>SDLC?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Критерии выбора:</a:t>
            </a:r>
            <a:endParaRPr lang="ru-RU" dirty="0"/>
          </a:p>
          <a:p>
            <a:r>
              <a:rPr lang="ru-RU" dirty="0"/>
              <a:t>Чёткость требований (</a:t>
            </a:r>
            <a:r>
              <a:rPr lang="ru-RU" dirty="0" err="1"/>
              <a:t>Waterfall</a:t>
            </a:r>
            <a:r>
              <a:rPr lang="ru-RU" dirty="0"/>
              <a:t>/V‑</a:t>
            </a:r>
            <a:r>
              <a:rPr lang="ru-RU" dirty="0" err="1"/>
              <a:t>model</a:t>
            </a:r>
            <a:r>
              <a:rPr lang="ru-RU" dirty="0"/>
              <a:t> </a:t>
            </a:r>
            <a:r>
              <a:rPr lang="ru-RU" dirty="0" err="1"/>
              <a:t>vs</a:t>
            </a:r>
            <a:r>
              <a:rPr lang="ru-RU" dirty="0"/>
              <a:t> </a:t>
            </a:r>
            <a:r>
              <a:rPr lang="ru-RU" dirty="0" err="1"/>
              <a:t>Agile</a:t>
            </a:r>
            <a:r>
              <a:rPr lang="ru-RU" dirty="0"/>
              <a:t>).</a:t>
            </a:r>
          </a:p>
          <a:p>
            <a:r>
              <a:rPr lang="ru-RU" dirty="0"/>
              <a:t>Сроки проекта (</a:t>
            </a:r>
            <a:r>
              <a:rPr lang="ru-RU" dirty="0" err="1"/>
              <a:t>Agile</a:t>
            </a:r>
            <a:r>
              <a:rPr lang="ru-RU" dirty="0"/>
              <a:t> для быстрых релизов).</a:t>
            </a:r>
          </a:p>
          <a:p>
            <a:r>
              <a:rPr lang="ru-RU" dirty="0"/>
              <a:t>Бюджет (</a:t>
            </a:r>
            <a:r>
              <a:rPr lang="ru-RU" dirty="0" err="1"/>
              <a:t>DevOps</a:t>
            </a:r>
            <a:r>
              <a:rPr lang="ru-RU" dirty="0"/>
              <a:t> требует инвестиций в инструменты).</a:t>
            </a:r>
          </a:p>
          <a:p>
            <a:r>
              <a:rPr lang="ru-RU" dirty="0"/>
              <a:t>Риски (спиральная модель для сложных задач).</a:t>
            </a:r>
          </a:p>
          <a:p>
            <a:pPr marL="0" indent="0">
              <a:buNone/>
            </a:pPr>
            <a:r>
              <a:rPr lang="ru-RU" b="1" dirty="0"/>
              <a:t>Совет:</a:t>
            </a:r>
            <a:r>
              <a:rPr lang="ru-RU" dirty="0"/>
              <a:t> Можно комбинировать модели под нужды проекта.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671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 Заключение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Ключевые выводы:</a:t>
            </a:r>
            <a:endParaRPr lang="ru-RU" dirty="0"/>
          </a:p>
          <a:p>
            <a:r>
              <a:rPr lang="ru-RU" dirty="0"/>
              <a:t>SDLC — основа успешной разработки ПО.</a:t>
            </a:r>
          </a:p>
          <a:p>
            <a:r>
              <a:rPr lang="ru-RU" dirty="0"/>
              <a:t>Этапы взаимосвязаны и требуют контроля.</a:t>
            </a:r>
          </a:p>
          <a:p>
            <a:r>
              <a:rPr lang="ru-RU" dirty="0"/>
              <a:t>Модель SDLC выбирается под проект и команду.</a:t>
            </a:r>
          </a:p>
          <a:p>
            <a:r>
              <a:rPr lang="ru-RU" dirty="0"/>
              <a:t>Автоматизация (CI/CD, </a:t>
            </a:r>
            <a:r>
              <a:rPr lang="ru-RU" dirty="0" err="1"/>
              <a:t>DevOps</a:t>
            </a:r>
            <a:r>
              <a:rPr lang="ru-RU" dirty="0"/>
              <a:t>) ускоряет процессы.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896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Фиолетовый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</TotalTime>
  <Words>38</Words>
  <Application>Microsoft Office PowerPoint</Application>
  <PresentationFormat>Широкоэкранный</PresentationFormat>
  <Paragraphs>110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Ретро</vt:lpstr>
      <vt:lpstr>Жизненный цикл разработки программного обеспечения (SDLC) Этапы и методологии </vt:lpstr>
      <vt:lpstr>Что такое SDLC? </vt:lpstr>
      <vt:lpstr>Зачем нужен SDLC:</vt:lpstr>
      <vt:lpstr>Основные этапы SDLC </vt:lpstr>
      <vt:lpstr> Планирование и анализ требований </vt:lpstr>
      <vt:lpstr>Проектирование системы</vt:lpstr>
      <vt:lpstr>Этап 3: Разработка </vt:lpstr>
      <vt:lpstr>Этап 4: Тестирование и отладка </vt:lpstr>
      <vt:lpstr>Этап 5: Внедрение и развёртывание Задачи: </vt:lpstr>
      <vt:lpstr>Сопровождение и развитие </vt:lpstr>
      <vt:lpstr>. Этап 7: Вывод из эксплуатации </vt:lpstr>
      <vt:lpstr>Модели SDLC: обзор </vt:lpstr>
      <vt:lpstr>Каскадная модель (Waterfall) </vt:lpstr>
      <vt:lpstr>V‑образная модель </vt:lpstr>
      <vt:lpstr>Итеративная и спиральная модели </vt:lpstr>
      <vt:lpstr>. Как выбрать модель SDLC? </vt:lpstr>
      <vt:lpstr> 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Жизненный цикл разработки программного обеспечения (SDLC)</dc:title>
  <dc:creator>9231 kopr</dc:creator>
  <cp:lastModifiedBy>9231 kopr</cp:lastModifiedBy>
  <cp:revision>8</cp:revision>
  <dcterms:created xsi:type="dcterms:W3CDTF">2026-04-09T07:41:05Z</dcterms:created>
  <dcterms:modified xsi:type="dcterms:W3CDTF">2026-04-09T09:23:02Z</dcterms:modified>
</cp:coreProperties>
</file>