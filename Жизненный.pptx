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69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50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1442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915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34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4126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39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5884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338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0149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460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5348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7E61FDA-2067-495C-9275-88CBF639CEF9}" type="datetimeFigureOut">
              <a:rPr lang="ru-RU" smtClean="0"/>
              <a:t>09.04.2026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747A71D-55D4-4A3B-88E7-51FB5CB450FE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822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2" r:id="rId1"/>
    <p:sldLayoutId id="2147483973" r:id="rId2"/>
    <p:sldLayoutId id="2147483974" r:id="rId3"/>
    <p:sldLayoutId id="2147483975" r:id="rId4"/>
    <p:sldLayoutId id="2147483976" r:id="rId5"/>
    <p:sldLayoutId id="2147483977" r:id="rId6"/>
    <p:sldLayoutId id="2147483978" r:id="rId7"/>
    <p:sldLayoutId id="2147483979" r:id="rId8"/>
    <p:sldLayoutId id="2147483980" r:id="rId9"/>
    <p:sldLayoutId id="2147483981" r:id="rId10"/>
    <p:sldLayoutId id="214748398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12943" y="1152394"/>
            <a:ext cx="11749413" cy="3219189"/>
          </a:xfrm>
        </p:spPr>
        <p:txBody>
          <a:bodyPr>
            <a:normAutofit/>
          </a:bodyPr>
          <a:lstStyle/>
          <a:p>
            <a:r>
              <a:rPr lang="ru-RU" sz="4000" dirty="0"/>
              <a:t>Жизненный цикл разработки программного обеспечения (SDLC</a:t>
            </a:r>
            <a:r>
              <a:rPr lang="ru-RU" sz="4000" dirty="0" smtClean="0"/>
              <a:t>) Этапы и методологии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2968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Что такое </a:t>
            </a:r>
            <a:r>
              <a:rPr lang="en-US" b="1" dirty="0"/>
              <a:t>SDLC?</a:t>
            </a:r>
            <a:br>
              <a:rPr lang="en-US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SDLC (</a:t>
            </a:r>
            <a:r>
              <a:rPr lang="ru-RU" dirty="0" err="1"/>
              <a:t>Software</a:t>
            </a:r>
            <a:r>
              <a:rPr lang="ru-RU" dirty="0"/>
              <a:t> </a:t>
            </a:r>
            <a:r>
              <a:rPr lang="ru-RU" dirty="0" err="1"/>
              <a:t>Development</a:t>
            </a:r>
            <a:r>
              <a:rPr lang="ru-RU" dirty="0"/>
              <a:t> </a:t>
            </a:r>
            <a:r>
              <a:rPr lang="ru-RU" dirty="0" err="1"/>
              <a:t>Life</a:t>
            </a:r>
            <a:r>
              <a:rPr lang="ru-RU" dirty="0"/>
              <a:t> </a:t>
            </a:r>
            <a:r>
              <a:rPr lang="ru-RU" dirty="0" err="1"/>
              <a:t>Cycle</a:t>
            </a:r>
            <a:r>
              <a:rPr lang="ru-RU" dirty="0"/>
              <a:t>) — это структурированный процесс создания программного обеспечения от идеи до вывода продукта из эксплуатации.</a:t>
            </a:r>
          </a:p>
        </p:txBody>
      </p:sp>
      <p:pic>
        <p:nvPicPr>
          <p:cNvPr id="1026" name="Picture 2" descr="Picture backgroun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6125" y="2625661"/>
            <a:ext cx="6495875" cy="365287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33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Зачем нужен </a:t>
            </a:r>
            <a:r>
              <a:rPr lang="en-US" b="1" dirty="0"/>
              <a:t>SDLC: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Чёткое планирование ресурсов и сроков.</a:t>
            </a:r>
          </a:p>
          <a:p>
            <a:r>
              <a:rPr lang="ru-RU" dirty="0"/>
              <a:t>Контроль качества на каждом этапе.</a:t>
            </a:r>
          </a:p>
          <a:p>
            <a:r>
              <a:rPr lang="ru-RU" dirty="0"/>
              <a:t>Снижение рисков и затрат.</a:t>
            </a:r>
          </a:p>
          <a:p>
            <a:r>
              <a:rPr lang="ru-RU" dirty="0"/>
              <a:t>Прозрачность для всех участников проекта.</a:t>
            </a:r>
          </a:p>
          <a:p>
            <a:endParaRPr lang="ru-RU" dirty="0"/>
          </a:p>
        </p:txBody>
      </p:sp>
      <p:pic>
        <p:nvPicPr>
          <p:cNvPr id="3074" name="Picture 2" descr="https://avatars.mds.yandex.net/i?id=07e0da9e1840ff08fc90e5f9a24d508b59e34b95-4012375-images-thumbs&amp;n=1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4573" y="2628952"/>
            <a:ext cx="6227428" cy="3708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2373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Основные этапы </a:t>
            </a:r>
            <a:r>
              <a:rPr lang="en-US" b="1" dirty="0"/>
              <a:t>SDLC</a:t>
            </a:r>
            <a:br>
              <a:rPr lang="en-US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Планирование и анализ требований.</a:t>
            </a:r>
          </a:p>
          <a:p>
            <a:r>
              <a:rPr lang="ru-RU" dirty="0"/>
              <a:t>Проектирование системы.</a:t>
            </a:r>
          </a:p>
          <a:p>
            <a:r>
              <a:rPr lang="ru-RU" dirty="0"/>
              <a:t>Разработка.</a:t>
            </a:r>
          </a:p>
          <a:p>
            <a:r>
              <a:rPr lang="ru-RU" dirty="0"/>
              <a:t>Тестирование и отладка.</a:t>
            </a:r>
          </a:p>
          <a:p>
            <a:r>
              <a:rPr lang="ru-RU" dirty="0"/>
              <a:t>Внедрение и развёртывание.</a:t>
            </a:r>
          </a:p>
          <a:p>
            <a:r>
              <a:rPr lang="ru-RU" dirty="0"/>
              <a:t>Сопровождение и развитие.</a:t>
            </a:r>
          </a:p>
          <a:p>
            <a:r>
              <a:rPr lang="ru-RU" dirty="0"/>
              <a:t>Вывод из эксплуатации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4098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227" y="2483141"/>
            <a:ext cx="5742773" cy="37331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673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 Планирование и анализ требований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Определение целей проекта.</a:t>
            </a:r>
          </a:p>
          <a:p>
            <a:r>
              <a:rPr lang="ru-RU" dirty="0"/>
              <a:t>Сбор и анализ бизнес‑требований.</a:t>
            </a:r>
          </a:p>
          <a:p>
            <a:r>
              <a:rPr lang="ru-RU" dirty="0"/>
              <a:t>Оценка ресурсов (бюджет, сроки, команда).</a:t>
            </a:r>
          </a:p>
          <a:p>
            <a:r>
              <a:rPr lang="ru-RU" dirty="0"/>
              <a:t>Формирование документа SRS (</a:t>
            </a:r>
            <a:r>
              <a:rPr lang="ru-RU" dirty="0" err="1"/>
              <a:t>Software</a:t>
            </a:r>
            <a:r>
              <a:rPr lang="ru-RU" dirty="0"/>
              <a:t> </a:t>
            </a:r>
            <a:r>
              <a:rPr lang="ru-RU" dirty="0" err="1"/>
              <a:t>Requirements</a:t>
            </a:r>
            <a:r>
              <a:rPr lang="ru-RU" dirty="0"/>
              <a:t> </a:t>
            </a:r>
            <a:r>
              <a:rPr lang="ru-RU" dirty="0" err="1"/>
              <a:t>Specification</a:t>
            </a:r>
            <a:r>
              <a:rPr lang="ru-RU" dirty="0"/>
              <a:t>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943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Проектирование системы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Разработка архитектуры ПО.</a:t>
            </a:r>
          </a:p>
          <a:p>
            <a:r>
              <a:rPr lang="ru-RU" dirty="0"/>
              <a:t>Проектирование модулей и интерфейсов.</a:t>
            </a:r>
          </a:p>
          <a:p>
            <a:r>
              <a:rPr lang="ru-RU" dirty="0"/>
              <a:t>Выбор технологий (языки программирования, </a:t>
            </a:r>
            <a:r>
              <a:rPr lang="ru-RU" dirty="0" err="1"/>
              <a:t>фреймворки</a:t>
            </a:r>
            <a:r>
              <a:rPr lang="ru-RU" dirty="0"/>
              <a:t>).</a:t>
            </a:r>
          </a:p>
          <a:p>
            <a:r>
              <a:rPr lang="ru-RU" dirty="0"/>
              <a:t>Создание прототипов и </a:t>
            </a:r>
            <a:r>
              <a:rPr lang="ru-RU" dirty="0" smtClean="0"/>
              <a:t>схем.</a:t>
            </a:r>
          </a:p>
          <a:p>
            <a:pPr marL="0" indent="0">
              <a:buNone/>
            </a:pPr>
            <a:r>
              <a:rPr lang="ru-RU" b="1" dirty="0" smtClean="0"/>
              <a:t>Участники:</a:t>
            </a:r>
            <a:r>
              <a:rPr lang="ru-RU" dirty="0" smtClean="0"/>
              <a:t> Архитектор ПО, UX/UI‑дизайнер.</a:t>
            </a:r>
          </a:p>
          <a:p>
            <a:pPr marL="0" indent="0">
              <a:buNone/>
            </a:pPr>
            <a:r>
              <a:rPr lang="ru-RU" b="1" dirty="0" smtClean="0"/>
              <a:t>Инструменты</a:t>
            </a:r>
            <a:r>
              <a:rPr lang="ru-RU" b="1" dirty="0"/>
              <a:t>:</a:t>
            </a:r>
            <a:r>
              <a:rPr lang="ru-RU" dirty="0"/>
              <a:t> Draw.io, </a:t>
            </a:r>
            <a:r>
              <a:rPr lang="ru-RU" dirty="0" err="1"/>
              <a:t>Figma</a:t>
            </a:r>
            <a:r>
              <a:rPr lang="ru-RU" dirty="0"/>
              <a:t>, </a:t>
            </a:r>
            <a:r>
              <a:rPr lang="ru-RU" dirty="0" err="1"/>
              <a:t>Lucidchart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6777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Этап 3: Разработка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Написание кода.</a:t>
            </a:r>
          </a:p>
          <a:p>
            <a:r>
              <a:rPr lang="ru-RU" dirty="0"/>
              <a:t>Интеграция компонентов.</a:t>
            </a:r>
          </a:p>
          <a:p>
            <a:r>
              <a:rPr lang="ru-RU" dirty="0"/>
              <a:t>Модульное тестирование.</a:t>
            </a:r>
          </a:p>
          <a:p>
            <a:r>
              <a:rPr lang="ru-RU" dirty="0"/>
              <a:t>Использование систем контроля версий.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Picture 2" descr="Picture backgroun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9973" y="1845734"/>
            <a:ext cx="4537423" cy="438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1277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Этап 4: Тестирование и отладка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Модульное (проверка отдельных блоков кода).</a:t>
            </a:r>
          </a:p>
          <a:p>
            <a:r>
              <a:rPr lang="ru-RU" dirty="0"/>
              <a:t>Интеграционное (взаимодействие компонентов).</a:t>
            </a:r>
          </a:p>
          <a:p>
            <a:r>
              <a:rPr lang="ru-RU" dirty="0"/>
              <a:t>Системное (соответствие требованиям).</a:t>
            </a:r>
          </a:p>
          <a:p>
            <a:r>
              <a:rPr lang="ru-RU" dirty="0"/>
              <a:t>Приёмочное (UAT, тестирование пользователями).</a:t>
            </a:r>
          </a:p>
          <a:p>
            <a:pPr marL="0" indent="0">
              <a:buNone/>
            </a:pPr>
            <a:r>
              <a:rPr lang="ru-RU" b="1" dirty="0"/>
              <a:t>Участники:</a:t>
            </a:r>
            <a:r>
              <a:rPr lang="ru-RU" dirty="0"/>
              <a:t> QA‑инженеры, </a:t>
            </a:r>
            <a:r>
              <a:rPr lang="ru-RU" dirty="0" err="1"/>
              <a:t>автоматизаторы</a:t>
            </a:r>
            <a:r>
              <a:rPr lang="ru-RU" dirty="0"/>
              <a:t> тестирования.</a:t>
            </a:r>
          </a:p>
          <a:p>
            <a:pPr marL="0" indent="0">
              <a:buNone/>
            </a:pPr>
            <a:r>
              <a:rPr lang="ru-RU" b="1" dirty="0"/>
              <a:t>Инструменты:</a:t>
            </a:r>
            <a:r>
              <a:rPr lang="ru-RU" dirty="0"/>
              <a:t> </a:t>
            </a:r>
            <a:r>
              <a:rPr lang="ru-RU" dirty="0" err="1"/>
              <a:t>Selenium</a:t>
            </a:r>
            <a:r>
              <a:rPr lang="ru-RU" dirty="0"/>
              <a:t>, </a:t>
            </a:r>
            <a:r>
              <a:rPr lang="ru-RU" dirty="0" err="1"/>
              <a:t>JUnit</a:t>
            </a:r>
            <a:r>
              <a:rPr lang="ru-RU" dirty="0"/>
              <a:t>, </a:t>
            </a:r>
            <a:r>
              <a:rPr lang="ru-RU" dirty="0" err="1"/>
              <a:t>Postman</a:t>
            </a:r>
            <a:r>
              <a:rPr lang="ru-RU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567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Этап 5: Внедрение и развёртывание</a:t>
            </a:r>
            <a:br>
              <a:rPr lang="ru-RU" b="1" dirty="0"/>
            </a:br>
            <a:r>
              <a:rPr lang="ru-RU" b="1" dirty="0"/>
              <a:t>Задачи: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Развёртывание ПО на серверах.</a:t>
            </a:r>
          </a:p>
          <a:p>
            <a:r>
              <a:rPr lang="ru-RU" dirty="0"/>
              <a:t>Миграция данных (если требуется).</a:t>
            </a:r>
          </a:p>
          <a:p>
            <a:r>
              <a:rPr lang="ru-RU" dirty="0"/>
              <a:t>Настройка инфраструктуры.</a:t>
            </a:r>
          </a:p>
          <a:p>
            <a:r>
              <a:rPr lang="ru-RU" dirty="0"/>
              <a:t>Обучение пользователей.</a:t>
            </a:r>
          </a:p>
          <a:p>
            <a:pPr marL="0" indent="0">
              <a:buNone/>
            </a:pPr>
            <a:r>
              <a:rPr lang="ru-RU" b="1" dirty="0"/>
              <a:t>Стратегии развёртывания:</a:t>
            </a:r>
            <a:endParaRPr lang="ru-RU" dirty="0"/>
          </a:p>
          <a:p>
            <a:r>
              <a:rPr lang="ru-RU" dirty="0"/>
              <a:t>Канареечное.</a:t>
            </a:r>
          </a:p>
          <a:p>
            <a:r>
              <a:rPr lang="ru-RU" dirty="0"/>
              <a:t>Сине‑зелёное.</a:t>
            </a:r>
          </a:p>
          <a:p>
            <a:r>
              <a:rPr lang="ru-RU" dirty="0"/>
              <a:t>Скользящее.</a:t>
            </a:r>
          </a:p>
          <a:p>
            <a:pPr marL="0" indent="0">
              <a:buNone/>
            </a:pPr>
            <a:r>
              <a:rPr lang="ru-RU" b="1" dirty="0"/>
              <a:t>Инструменты:</a:t>
            </a:r>
            <a:r>
              <a:rPr lang="ru-RU" dirty="0"/>
              <a:t> </a:t>
            </a:r>
            <a:r>
              <a:rPr lang="ru-RU" dirty="0" err="1"/>
              <a:t>Docker</a:t>
            </a:r>
            <a:r>
              <a:rPr lang="ru-RU" dirty="0"/>
              <a:t>, </a:t>
            </a:r>
            <a:r>
              <a:rPr lang="ru-RU" dirty="0" err="1"/>
              <a:t>Kubernetes</a:t>
            </a:r>
            <a:r>
              <a:rPr lang="ru-RU" dirty="0"/>
              <a:t>, </a:t>
            </a:r>
            <a:r>
              <a:rPr lang="ru-RU" dirty="0" err="1"/>
              <a:t>Jenkins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pic>
        <p:nvPicPr>
          <p:cNvPr id="5122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8521" y="2625754"/>
            <a:ext cx="5942202" cy="3120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9076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Сопровождение и развитие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Мониторинг работы ПО.</a:t>
            </a:r>
          </a:p>
          <a:p>
            <a:r>
              <a:rPr lang="ru-RU" dirty="0"/>
              <a:t>Устранение ошибок.</a:t>
            </a:r>
          </a:p>
          <a:p>
            <a:r>
              <a:rPr lang="ru-RU" dirty="0"/>
              <a:t>Выпуск обновлений.</a:t>
            </a:r>
          </a:p>
          <a:p>
            <a:r>
              <a:rPr lang="ru-RU" dirty="0"/>
              <a:t>Сбор обратной связи от пользователей.</a:t>
            </a:r>
          </a:p>
          <a:p>
            <a:pPr marL="0" indent="0">
              <a:buNone/>
            </a:pPr>
            <a:r>
              <a:rPr lang="ru-RU" b="1" dirty="0"/>
              <a:t>Участники:</a:t>
            </a:r>
            <a:r>
              <a:rPr lang="ru-RU" dirty="0"/>
              <a:t> Техническая поддержка, разработчики.</a:t>
            </a:r>
          </a:p>
          <a:p>
            <a:pPr marL="0" indent="0">
              <a:buNone/>
            </a:pPr>
            <a:r>
              <a:rPr lang="ru-RU" b="1" dirty="0"/>
              <a:t>Инструменты:</a:t>
            </a:r>
            <a:r>
              <a:rPr lang="ru-RU" dirty="0"/>
              <a:t> </a:t>
            </a:r>
            <a:r>
              <a:rPr lang="ru-RU" dirty="0" err="1"/>
              <a:t>Jira</a:t>
            </a:r>
            <a:r>
              <a:rPr lang="ru-RU" dirty="0"/>
              <a:t>, </a:t>
            </a:r>
            <a:r>
              <a:rPr lang="ru-RU" dirty="0" err="1"/>
              <a:t>Zend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5995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. Этап 7: Вывод из эксплуатации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Продукт устарел.</a:t>
            </a:r>
          </a:p>
          <a:p>
            <a:r>
              <a:rPr lang="ru-RU" dirty="0"/>
              <a:t>Заменён новой версией.</a:t>
            </a:r>
          </a:p>
          <a:p>
            <a:r>
              <a:rPr lang="ru-RU" dirty="0"/>
              <a:t>Прекращена поддержка со стороны заказчика.</a:t>
            </a:r>
          </a:p>
          <a:p>
            <a:pPr marL="0" indent="0">
              <a:buNone/>
            </a:pPr>
            <a:r>
              <a:rPr lang="ru-RU" b="1" dirty="0"/>
              <a:t>Действия:</a:t>
            </a:r>
            <a:endParaRPr lang="ru-RU" dirty="0"/>
          </a:p>
          <a:p>
            <a:r>
              <a:rPr lang="ru-RU" dirty="0"/>
              <a:t>Архивирование данных.</a:t>
            </a:r>
          </a:p>
          <a:p>
            <a:r>
              <a:rPr lang="ru-RU" dirty="0"/>
              <a:t>Уведомление пользователей.</a:t>
            </a:r>
          </a:p>
          <a:p>
            <a:r>
              <a:rPr lang="ru-RU" dirty="0"/>
              <a:t>Закрытие документации.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58579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Модели </a:t>
            </a:r>
            <a:r>
              <a:rPr lang="en-US" b="1" dirty="0"/>
              <a:t>SDLC: </a:t>
            </a:r>
            <a:r>
              <a:rPr lang="ru-RU" b="1" dirty="0"/>
              <a:t>обзор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Каскадная (</a:t>
            </a:r>
            <a:r>
              <a:rPr lang="ru-RU" dirty="0" err="1"/>
              <a:t>Waterfall</a:t>
            </a:r>
            <a:r>
              <a:rPr lang="ru-RU" dirty="0"/>
              <a:t>).</a:t>
            </a:r>
          </a:p>
          <a:p>
            <a:r>
              <a:rPr lang="ru-RU" dirty="0"/>
              <a:t>V‑образная.</a:t>
            </a:r>
          </a:p>
          <a:p>
            <a:r>
              <a:rPr lang="ru-RU" dirty="0"/>
              <a:t>Итеративная.</a:t>
            </a:r>
          </a:p>
          <a:p>
            <a:r>
              <a:rPr lang="ru-RU" dirty="0"/>
              <a:t>Спиральная.</a:t>
            </a:r>
          </a:p>
          <a:p>
            <a:r>
              <a:rPr lang="ru-RU" dirty="0" err="1"/>
              <a:t>Agile</a:t>
            </a:r>
            <a:r>
              <a:rPr lang="ru-RU" dirty="0"/>
              <a:t>.</a:t>
            </a:r>
          </a:p>
          <a:p>
            <a:r>
              <a:rPr lang="ru-RU" dirty="0" err="1"/>
              <a:t>DevOps</a:t>
            </a:r>
            <a:r>
              <a:rPr lang="ru-RU" dirty="0"/>
              <a:t>.</a:t>
            </a:r>
          </a:p>
          <a:p>
            <a:r>
              <a:rPr lang="ru-RU" b="1" dirty="0"/>
              <a:t>Визуализация:</a:t>
            </a:r>
            <a:r>
              <a:rPr lang="ru-RU" dirty="0"/>
              <a:t> Таблица сравнения моделей по критериям: гибкость, сроки, стоимость, риски.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93736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Каскадная модель (</a:t>
            </a:r>
            <a:r>
              <a:rPr lang="en-US" b="1" dirty="0"/>
              <a:t>Waterfall)</a:t>
            </a:r>
            <a:br>
              <a:rPr lang="en-US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Особенности:</a:t>
            </a:r>
            <a:endParaRPr lang="ru-RU" dirty="0"/>
          </a:p>
          <a:p>
            <a:r>
              <a:rPr lang="ru-RU" dirty="0"/>
              <a:t>Строгая последовательность этапов.</a:t>
            </a:r>
          </a:p>
          <a:p>
            <a:r>
              <a:rPr lang="ru-RU" dirty="0"/>
              <a:t>Каждый этап завершается до начала следующего.</a:t>
            </a:r>
          </a:p>
          <a:p>
            <a:r>
              <a:rPr lang="ru-RU" dirty="0"/>
              <a:t>Подходит для проектов с чёткими требованиями.</a:t>
            </a:r>
          </a:p>
          <a:p>
            <a:pPr marL="0" indent="0">
              <a:buNone/>
            </a:pPr>
            <a:r>
              <a:rPr lang="ru-RU" b="1" dirty="0"/>
              <a:t>Плюсы:</a:t>
            </a:r>
            <a:r>
              <a:rPr lang="ru-RU" dirty="0"/>
              <a:t> Простота, чёткая документация.</a:t>
            </a:r>
            <a:br>
              <a:rPr lang="ru-RU" dirty="0"/>
            </a:br>
            <a:r>
              <a:rPr lang="ru-RU" b="1" dirty="0"/>
              <a:t>Минусы:</a:t>
            </a:r>
            <a:r>
              <a:rPr lang="ru-RU" dirty="0"/>
              <a:t> Низкая гибкость, дороговизна изменений.</a:t>
            </a:r>
          </a:p>
          <a:p>
            <a:pPr marL="0" indent="0">
              <a:buNone/>
            </a:pPr>
            <a:r>
              <a:rPr lang="ru-RU" b="1" dirty="0"/>
              <a:t>Пример:</a:t>
            </a:r>
            <a:r>
              <a:rPr lang="ru-RU" dirty="0"/>
              <a:t> Разработка ПО для госорганов</a:t>
            </a:r>
            <a:r>
              <a:rPr lang="ru-RU" dirty="0" smtClean="0"/>
              <a:t>.</a:t>
            </a:r>
          </a:p>
          <a:p>
            <a:pPr marL="0" indent="0">
              <a:buNone/>
            </a:pPr>
            <a:r>
              <a:rPr lang="ru-RU" b="1" dirty="0"/>
              <a:t>Плюсы:</a:t>
            </a:r>
            <a:r>
              <a:rPr lang="ru-RU" dirty="0"/>
              <a:t> Простота, чёткая документация.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b="1" dirty="0"/>
              <a:t>Минусы:</a:t>
            </a:r>
            <a:r>
              <a:rPr lang="ru-RU" dirty="0"/>
              <a:t> Низкая гибкость, дороговизна изменений</a:t>
            </a:r>
          </a:p>
        </p:txBody>
      </p:sp>
    </p:spTree>
    <p:extLst>
      <p:ext uri="{BB962C8B-B14F-4D97-AF65-F5344CB8AC3E}">
        <p14:creationId xmlns:p14="http://schemas.microsoft.com/office/powerpoint/2010/main" val="4262507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V‑</a:t>
            </a:r>
            <a:r>
              <a:rPr lang="ru-RU" b="1" dirty="0"/>
              <a:t>образная модель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Особенности:</a:t>
            </a:r>
            <a:endParaRPr lang="ru-RU" dirty="0"/>
          </a:p>
          <a:p>
            <a:r>
              <a:rPr lang="ru-RU" dirty="0"/>
              <a:t>Расширенная версия каскадной модели.</a:t>
            </a:r>
          </a:p>
          <a:p>
            <a:r>
              <a:rPr lang="ru-RU" dirty="0"/>
              <a:t>Тестирование планируется на этапе проектирования.</a:t>
            </a:r>
          </a:p>
          <a:p>
            <a:r>
              <a:rPr lang="ru-RU" dirty="0"/>
              <a:t>Верификация (до разработки) и </a:t>
            </a:r>
            <a:r>
              <a:rPr lang="ru-RU" dirty="0" err="1"/>
              <a:t>валидация</a:t>
            </a:r>
            <a:r>
              <a:rPr lang="ru-RU" dirty="0"/>
              <a:t> (после разработки).</a:t>
            </a:r>
          </a:p>
          <a:p>
            <a:pPr marL="0" indent="0">
              <a:buNone/>
            </a:pPr>
            <a:r>
              <a:rPr lang="ru-RU" b="1" dirty="0"/>
              <a:t>Плюсы:</a:t>
            </a:r>
            <a:r>
              <a:rPr lang="ru-RU" dirty="0"/>
              <a:t> Надёжность, раннее выявление ошибок.</a:t>
            </a:r>
            <a:br>
              <a:rPr lang="ru-RU" dirty="0"/>
            </a:br>
            <a:r>
              <a:rPr lang="ru-RU" b="1" dirty="0"/>
              <a:t>Минусы:</a:t>
            </a:r>
            <a:r>
              <a:rPr lang="ru-RU" dirty="0"/>
              <a:t> Жёсткость, высокая стоимость.</a:t>
            </a:r>
          </a:p>
          <a:p>
            <a:pPr marL="0" indent="0">
              <a:buNone/>
            </a:pPr>
            <a:r>
              <a:rPr lang="ru-RU" b="1" dirty="0"/>
              <a:t>Пример:</a:t>
            </a:r>
            <a:r>
              <a:rPr lang="ru-RU" dirty="0"/>
              <a:t> ПО для авиации или медицины.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759352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Итеративная и спиральная модели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Итеративная:</a:t>
            </a:r>
            <a:endParaRPr lang="ru-RU" dirty="0"/>
          </a:p>
          <a:p>
            <a:r>
              <a:rPr lang="ru-RU" dirty="0"/>
              <a:t>Разработка по циклам (итерациям).</a:t>
            </a:r>
          </a:p>
          <a:p>
            <a:r>
              <a:rPr lang="ru-RU" dirty="0"/>
              <a:t>Постепенное улучшение продукта.</a:t>
            </a:r>
          </a:p>
          <a:p>
            <a:pPr marL="0" indent="0">
              <a:buNone/>
            </a:pPr>
            <a:r>
              <a:rPr lang="ru-RU" b="1" dirty="0"/>
              <a:t>Спиральная:</a:t>
            </a:r>
            <a:endParaRPr lang="ru-RU" dirty="0"/>
          </a:p>
          <a:p>
            <a:r>
              <a:rPr lang="ru-RU" dirty="0"/>
              <a:t>Итерации с акцентом на анализ рисков.</a:t>
            </a:r>
          </a:p>
          <a:p>
            <a:r>
              <a:rPr lang="ru-RU" dirty="0"/>
              <a:t>Каждая итерация — новый прототип.</a:t>
            </a:r>
          </a:p>
          <a:p>
            <a:pPr marL="0" indent="0">
              <a:buNone/>
            </a:pPr>
            <a:r>
              <a:rPr lang="ru-RU" b="1" dirty="0"/>
              <a:t>Плюсы:</a:t>
            </a:r>
            <a:r>
              <a:rPr lang="ru-RU" dirty="0"/>
              <a:t> Гибкость, адаптация к изменениям.</a:t>
            </a:r>
            <a:br>
              <a:rPr lang="ru-RU" dirty="0"/>
            </a:br>
            <a:r>
              <a:rPr lang="ru-RU" b="1" dirty="0"/>
              <a:t>Минусы:</a:t>
            </a:r>
            <a:r>
              <a:rPr lang="ru-RU" dirty="0"/>
              <a:t> Сложность управления, высокие затраты.</a:t>
            </a:r>
          </a:p>
          <a:p>
            <a:pPr marL="0" indent="0">
              <a:buNone/>
            </a:pPr>
            <a:r>
              <a:rPr lang="ru-RU" b="1" dirty="0"/>
              <a:t>Пример:</a:t>
            </a:r>
            <a:r>
              <a:rPr lang="ru-RU" dirty="0"/>
              <a:t> Инновационные проекты с неопределёнными требованиями.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7424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. Как выбрать модель </a:t>
            </a:r>
            <a:r>
              <a:rPr lang="en-US" b="1" dirty="0"/>
              <a:t>SDLC?</a:t>
            </a:r>
            <a:br>
              <a:rPr lang="en-US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Критерии выбора:</a:t>
            </a:r>
            <a:endParaRPr lang="ru-RU" dirty="0"/>
          </a:p>
          <a:p>
            <a:r>
              <a:rPr lang="ru-RU" dirty="0"/>
              <a:t>Чёткость требований (</a:t>
            </a:r>
            <a:r>
              <a:rPr lang="ru-RU" dirty="0" err="1"/>
              <a:t>Waterfall</a:t>
            </a:r>
            <a:r>
              <a:rPr lang="ru-RU" dirty="0"/>
              <a:t>/V‑</a:t>
            </a:r>
            <a:r>
              <a:rPr lang="ru-RU" dirty="0" err="1"/>
              <a:t>model</a:t>
            </a:r>
            <a:r>
              <a:rPr lang="ru-RU" dirty="0"/>
              <a:t> </a:t>
            </a:r>
            <a:r>
              <a:rPr lang="ru-RU" dirty="0" err="1"/>
              <a:t>vs</a:t>
            </a:r>
            <a:r>
              <a:rPr lang="ru-RU" dirty="0"/>
              <a:t> </a:t>
            </a:r>
            <a:r>
              <a:rPr lang="ru-RU" dirty="0" err="1"/>
              <a:t>Agile</a:t>
            </a:r>
            <a:r>
              <a:rPr lang="ru-RU" dirty="0"/>
              <a:t>).</a:t>
            </a:r>
          </a:p>
          <a:p>
            <a:r>
              <a:rPr lang="ru-RU" dirty="0"/>
              <a:t>Сроки проекта (</a:t>
            </a:r>
            <a:r>
              <a:rPr lang="ru-RU" dirty="0" err="1"/>
              <a:t>Agile</a:t>
            </a:r>
            <a:r>
              <a:rPr lang="ru-RU" dirty="0"/>
              <a:t> для быстрых релизов).</a:t>
            </a:r>
          </a:p>
          <a:p>
            <a:r>
              <a:rPr lang="ru-RU" dirty="0"/>
              <a:t>Бюджет (</a:t>
            </a:r>
            <a:r>
              <a:rPr lang="ru-RU" dirty="0" err="1"/>
              <a:t>DevOps</a:t>
            </a:r>
            <a:r>
              <a:rPr lang="ru-RU" dirty="0"/>
              <a:t> требует инвестиций в инструменты).</a:t>
            </a:r>
          </a:p>
          <a:p>
            <a:r>
              <a:rPr lang="ru-RU" dirty="0"/>
              <a:t>Риски (спиральная модель для сложных задач).</a:t>
            </a:r>
          </a:p>
          <a:p>
            <a:pPr marL="0" indent="0">
              <a:buNone/>
            </a:pPr>
            <a:r>
              <a:rPr lang="ru-RU" b="1" dirty="0"/>
              <a:t>Совет:</a:t>
            </a:r>
            <a:r>
              <a:rPr lang="ru-RU" dirty="0"/>
              <a:t> Можно комбинировать модели под нужды проекта.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6714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 Заключение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Ключевые выводы:</a:t>
            </a:r>
            <a:endParaRPr lang="ru-RU" dirty="0"/>
          </a:p>
          <a:p>
            <a:r>
              <a:rPr lang="ru-RU" dirty="0"/>
              <a:t>SDLC — основа успешной разработки ПО.</a:t>
            </a:r>
          </a:p>
          <a:p>
            <a:r>
              <a:rPr lang="ru-RU" dirty="0"/>
              <a:t>Этапы взаимосвязаны и требуют контроля.</a:t>
            </a:r>
          </a:p>
          <a:p>
            <a:r>
              <a:rPr lang="ru-RU" dirty="0"/>
              <a:t>Модель SDLC выбирается под проект и команду.</a:t>
            </a:r>
          </a:p>
          <a:p>
            <a:r>
              <a:rPr lang="ru-RU" dirty="0"/>
              <a:t>Автоматизация (CI/CD, </a:t>
            </a:r>
            <a:r>
              <a:rPr lang="ru-RU" dirty="0" err="1"/>
              <a:t>DevOps</a:t>
            </a:r>
            <a:r>
              <a:rPr lang="ru-RU" dirty="0"/>
              <a:t>) ускоряет процессы.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8961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Ретро">
  <a:themeElements>
    <a:clrScheme name="Фиолетовый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79</TotalTime>
  <Words>38</Words>
  <Application>Microsoft Office PowerPoint</Application>
  <PresentationFormat>Широкоэкранный</PresentationFormat>
  <Paragraphs>110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Ретро</vt:lpstr>
      <vt:lpstr>Жизненный цикл разработки программного обеспечения (SDLC) Этапы и методологии </vt:lpstr>
      <vt:lpstr>Что такое SDLC? </vt:lpstr>
      <vt:lpstr>Зачем нужен SDLC:</vt:lpstr>
      <vt:lpstr>Основные этапы SDLC </vt:lpstr>
      <vt:lpstr> Планирование и анализ требований </vt:lpstr>
      <vt:lpstr>Проектирование системы</vt:lpstr>
      <vt:lpstr>Этап 3: Разработка </vt:lpstr>
      <vt:lpstr>Этап 4: Тестирование и отладка </vt:lpstr>
      <vt:lpstr>Этап 5: Внедрение и развёртывание Задачи: </vt:lpstr>
      <vt:lpstr>Сопровождение и развитие </vt:lpstr>
      <vt:lpstr>. Этап 7: Вывод из эксплуатации </vt:lpstr>
      <vt:lpstr>Модели SDLC: обзор </vt:lpstr>
      <vt:lpstr>Каскадная модель (Waterfall) </vt:lpstr>
      <vt:lpstr>V‑образная модель </vt:lpstr>
      <vt:lpstr>Итеративная и спиральная модели </vt:lpstr>
      <vt:lpstr>. Как выбрать модель SDLC? </vt:lpstr>
      <vt:lpstr> Заключение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Жизненный цикл разработки программного обеспечения (SDLC)</dc:title>
  <dc:creator>9231 kopr</dc:creator>
  <cp:lastModifiedBy>9231 kopr</cp:lastModifiedBy>
  <cp:revision>7</cp:revision>
  <dcterms:created xsi:type="dcterms:W3CDTF">2026-04-09T07:41:05Z</dcterms:created>
  <dcterms:modified xsi:type="dcterms:W3CDTF">2026-04-09T09:03:20Z</dcterms:modified>
</cp:coreProperties>
</file>